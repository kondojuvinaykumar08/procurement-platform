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2"/>
    </p:embeddedFont>
    <p:embeddedFont>
      <p:font typeface="Playfair Display Bold" panose="020B0604020202020204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99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9975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352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6299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2035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547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6252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10167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336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887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4431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006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44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3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9279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ProcureFlow – Enterprise Procurement Management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62398"/>
            <a:ext cx="8151763" cy="536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Building a secure, scalable, highly available procurement system using AWS and Terraform 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Presented by: Vinay Kumar Kondoju 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838376"/>
            <a:ext cx="8151763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 Cloud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Terraform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DevOps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Procurement Platform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 Architecture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844"/>
            <a:ext cx="737644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Business Challenges in Traditional Procurement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055415"/>
            <a:ext cx="8151763" cy="682079"/>
          </a:xfrm>
          <a:prstGeom prst="roundRect">
            <a:avLst>
              <a:gd name="adj" fmla="val 2728"/>
            </a:avLst>
          </a:prstGeom>
          <a:solidFill>
            <a:srgbClr val="D5D5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1235199"/>
            <a:ext cx="155004" cy="1239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9071" y="1197992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Legacy procurement processes create operational, security, and audit risk that slows enterprise decision-making and increases cost. 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877020"/>
            <a:ext cx="310083" cy="310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2342108"/>
            <a:ext cx="17400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Spreadsheet-based Data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96119" y="2610371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Vendor details and pricing scattered across files — high risk of inconsistency and errors.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9465" y="1877020"/>
            <a:ext cx="310083" cy="310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49465" y="234210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Manual Workflows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649465" y="2610371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Approval steps are slow, paper-heavy, and hard to track — delays and missed SLAs.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55318"/>
            <a:ext cx="310083" cy="3100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720405"/>
            <a:ext cx="17211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Fragmented Documents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6119" y="3988668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Contracts, invoices, and POs live in multiple systems — retrieval and compliance suffer.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9465" y="3255318"/>
            <a:ext cx="310083" cy="3100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49465" y="372040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Security &amp; Scale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649465" y="3988668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centralized audit trail or scalable controls — compliance risks increase with growth.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496119" y="452511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 slide maps core pain points that ProcureFlow must eliminate to deliver measurable business value: speed, visibility, security, and scale.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9538"/>
            <a:ext cx="534940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ProcureFlow Solution (High-level)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4510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cloud-native procurement platform that digitizes vendor lifecycle, automates approvals, centralizes documents, and provides auditable, role-based controls. 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88156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078013"/>
            <a:ext cx="4013895" cy="14288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6119" y="2168575"/>
            <a:ext cx="160883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1. Vendor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436837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 repository: onboarding, credentials, risk scores, attachments.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188156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078013"/>
            <a:ext cx="4013895" cy="14288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33987" y="2168575"/>
            <a:ext cx="24335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2. Purchase Requests &amp; Approvals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436837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Configurable multi-step workflows, SLA enforcement, approver escalation.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05075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247206"/>
            <a:ext cx="4013895" cy="14288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6119" y="3337768"/>
            <a:ext cx="16586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3. Contracts &amp; Invoices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606031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Versioned contracts, invoice matching, automated reconciliation hints.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05075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247206"/>
            <a:ext cx="4013895" cy="14288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33987" y="333776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4. Reporting &amp; Audit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606031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Immutable audit trail, role-based access, activity logs for compliance.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6119" y="423550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Primary users: Admin, Procurement Manager, Finance Team, Auditor — each with tailored interfaces and RBAC.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FC1A37-9556-1FA0-2485-02C6B475C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4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759" y="298474"/>
            <a:ext cx="1806147" cy="882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AWS </a:t>
            </a:r>
            <a:br>
              <a:rPr lang="en-US" sz="2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</a:br>
            <a:r>
              <a:rPr lang="en-US" sz="2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Architecture</a:t>
            </a:r>
            <a:endParaRPr lang="en-US" sz="2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6D787D-BCC7-F66A-3575-8D3EE9B58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472" y="0"/>
            <a:ext cx="584269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5145" y="243334"/>
            <a:ext cx="3141985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Scalability &amp; High Availability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515145" y="582513"/>
            <a:ext cx="6570911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Design choices that remove single points of failure and enable predictable scaling during load spikes. 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1631379" y="1047824"/>
            <a:ext cx="1889299" cy="77465"/>
          </a:xfrm>
          <a:prstGeom prst="roundRect">
            <a:avLst>
              <a:gd name="adj" fmla="val 15012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15145" y="970248"/>
            <a:ext cx="232544" cy="232544"/>
          </a:xfrm>
          <a:prstGeom prst="roundRect">
            <a:avLst>
              <a:gd name="adj" fmla="val 122880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3262" y="1028365"/>
            <a:ext cx="116235" cy="1162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2610" y="1251272"/>
            <a:ext cx="1414537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 Scaling Groups (Frontend)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592610" y="1401366"/>
            <a:ext cx="1850678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Min: 2 — Desired: 3 — Max: 4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3685431" y="931515"/>
            <a:ext cx="1889299" cy="77465"/>
          </a:xfrm>
          <a:prstGeom prst="roundRect">
            <a:avLst>
              <a:gd name="adj" fmla="val 15012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569196" y="853939"/>
            <a:ext cx="232544" cy="232544"/>
          </a:xfrm>
          <a:prstGeom prst="roundRect">
            <a:avLst>
              <a:gd name="adj" fmla="val 122880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7313" y="912056"/>
            <a:ext cx="116235" cy="1162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6661" y="1134963"/>
            <a:ext cx="138320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 Scaling Groups (Backend)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3646661" y="1285056"/>
            <a:ext cx="1850678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Min: 2 — Desired: 3 — Max: 4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5739482" y="815280"/>
            <a:ext cx="1889299" cy="77465"/>
          </a:xfrm>
          <a:prstGeom prst="roundRect">
            <a:avLst>
              <a:gd name="adj" fmla="val 15012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623247" y="737704"/>
            <a:ext cx="232544" cy="232544"/>
          </a:xfrm>
          <a:prstGeom prst="roundRect">
            <a:avLst>
              <a:gd name="adj" fmla="val 122880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1365" y="795821"/>
            <a:ext cx="116235" cy="1162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00713" y="1018729"/>
            <a:ext cx="96909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Scaling Policy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5700713" y="1168822"/>
            <a:ext cx="1850678" cy="20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tracking on CPU utilization — target = 60% for scale-in/scale-out stability.</a:t>
            </a:r>
            <a:endParaRPr lang="en-US" sz="6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2781" y="1634058"/>
            <a:ext cx="6078438" cy="32661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56665" y="1988064"/>
            <a:ext cx="1375547" cy="17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Multi-AZ ALBs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677189" y="2208916"/>
            <a:ext cx="1455024" cy="223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Distribute traffic across Availability Zones for HA.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011692" y="2452694"/>
            <a:ext cx="1375547" cy="17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ASGs Frontend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011692" y="2673546"/>
            <a:ext cx="1455023" cy="223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 2 Desired 3 Max 4; span AZs for no SPOF.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756665" y="2929550"/>
            <a:ext cx="1375547" cy="17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ASGs Backend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677189" y="3150402"/>
            <a:ext cx="1455024" cy="223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 2 Desired 3 Max 4; redundant across AZs.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011692" y="3461428"/>
            <a:ext cx="1375547" cy="17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Target Tracking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011692" y="3682280"/>
            <a:ext cx="1455023" cy="223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CPU target 60% triggers scale-out/scale-in.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1756665" y="3962739"/>
            <a:ext cx="1375547" cy="17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Automatic Resilience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677189" y="4183591"/>
            <a:ext cx="1455024" cy="223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Eliminates single points of failure automatically.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229716"/>
            <a:ext cx="3839319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Monitoring, Alerting &amp; Automation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5875" y="602159"/>
            <a:ext cx="7029450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Operational workflow for alert detection and automated notification delivery to on-call teams. 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523" y="776585"/>
            <a:ext cx="4634954" cy="35760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61892" y="2271326"/>
            <a:ext cx="808369" cy="554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Automated Alert Delivery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957117" y="3400085"/>
            <a:ext cx="1202592" cy="36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Lambda transformer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57117" y="3822342"/>
            <a:ext cx="1202592" cy="247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Enriches and formats alert payloads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446574" y="2217106"/>
            <a:ext cx="1228880" cy="36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Automated notifications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446574" y="2639364"/>
            <a:ext cx="1228880" cy="247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On-call paging and summary emails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952626" y="3430789"/>
            <a:ext cx="1202592" cy="184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Amazon SES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52626" y="3668206"/>
            <a:ext cx="1202592" cy="370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Sends HTML email templates to stakeholders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56597" y="2241238"/>
            <a:ext cx="1228880" cy="184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SNS topic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56597" y="2478656"/>
            <a:ext cx="1228880" cy="370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Fan-out to subscribers and Lambda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925297" y="978265"/>
            <a:ext cx="1235452" cy="36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CloudWatch alarms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925297" y="1400523"/>
            <a:ext cx="1235452" cy="247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CPU high/low, health checks, ASG events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5875" y="4415582"/>
            <a:ext cx="208359" cy="20835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64184" y="4415582"/>
            <a:ext cx="104179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CloudWatch Alerts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564184" y="4579367"/>
            <a:ext cx="1865784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CPU high/low, health checks, and ASG lifecycle events trigger alarms.</a:t>
            </a:r>
            <a:endParaRPr lang="en-US" sz="6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9917" y="4415582"/>
            <a:ext cx="208359" cy="20835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78225" y="4415582"/>
            <a:ext cx="104179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Automated Workflow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778225" y="4579367"/>
            <a:ext cx="1865784" cy="334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SNS fans out to Lambda which formats alerts and sends via SES — HTML templates for clear on-call action.</a:t>
            </a:r>
            <a:endParaRPr lang="en-US" sz="6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3958" y="4415582"/>
            <a:ext cx="208359" cy="20835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92267" y="4415582"/>
            <a:ext cx="104179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Operational Benefits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5992267" y="4579367"/>
            <a:ext cx="1865858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Faster incident response, consistent notifications, and audit-ready alert records.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220117"/>
            <a:ext cx="5278562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Infrastructure as Code — Terraform Implementation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1438721" y="570235"/>
            <a:ext cx="6723757" cy="10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Terraform drives reproducible, reviewed infrastructure with modular design and remote state management. 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8721" y="731713"/>
            <a:ext cx="198611" cy="1986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8721" y="993949"/>
            <a:ext cx="993279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Modular Architecture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438721" y="1148581"/>
            <a:ext cx="2046387" cy="312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Modules for networking, security-groups, alb, asg, kms, s3, secretsmanager, waf, route53, cloudwatch, sns, iam.</a:t>
            </a:r>
            <a:endParaRPr lang="en-US" sz="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8732" y="731713"/>
            <a:ext cx="198611" cy="1986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48732" y="993949"/>
            <a:ext cx="1118815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Terraform Concepts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3548732" y="1148581"/>
            <a:ext cx="2046461" cy="312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Variables, outputs, remote backend (S3 + DynamoDB lock), state management, resource dependencies, and launch templates.</a:t>
            </a:r>
            <a:endParaRPr lang="en-US" sz="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8817" y="731713"/>
            <a:ext cx="198611" cy="1986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58817" y="993949"/>
            <a:ext cx="993279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Automation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5658817" y="1148581"/>
            <a:ext cx="2046387" cy="312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 pipeline runs plan/apply with policy checks, automated ACM and Route53 provisioning, WAF rules deployment, and CloudWatch alarms creation.</a:t>
            </a:r>
            <a:endParaRPr lang="en-US" sz="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7461" y="1518568"/>
            <a:ext cx="4289078" cy="34047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80963" y="2853174"/>
            <a:ext cx="770779" cy="704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Composable Terraform Modules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939209" y="1928572"/>
            <a:ext cx="1146671" cy="17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939209" y="2154949"/>
            <a:ext cx="1146671" cy="11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VPC, subnets, routing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3027928" y="1782582"/>
            <a:ext cx="1146671" cy="352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Monitoring &amp; Alerts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3027928" y="2185204"/>
            <a:ext cx="1146671" cy="23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CloudWatch metrics and SNS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3027928" y="4019721"/>
            <a:ext cx="1146671" cy="352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 Scaling Group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3027928" y="4422343"/>
            <a:ext cx="1146671" cy="23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Managed compute scaling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4939209" y="4019721"/>
            <a:ext cx="1146671" cy="352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Application Load Balancer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939209" y="4422343"/>
            <a:ext cx="1146671" cy="23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Traffic routing and health checks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5352798" y="2973607"/>
            <a:ext cx="1171737" cy="17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Security Groups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352798" y="3199985"/>
            <a:ext cx="1171737" cy="23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Instance and ALB rules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2608072" y="2979874"/>
            <a:ext cx="1171737" cy="17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Secrets &amp; Storage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608072" y="3206251"/>
            <a:ext cx="1171737" cy="23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KMS, S3, Secrets Manager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9441"/>
            <a:ext cx="436431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Outcomes &amp; Key Learnings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405012"/>
            <a:ext cx="2634555" cy="2432521"/>
          </a:xfrm>
          <a:prstGeom prst="roundRect">
            <a:avLst>
              <a:gd name="adj" fmla="val 765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20092" y="152898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Delivered Outcomes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1797248"/>
            <a:ext cx="2386608" cy="1916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Enterprise-grade procurement platform built and validated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multi-AZ AWS architecture with centralized audit trail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IaC via Terraform with reusable modules and remote state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monitoring/alerting pipeline (CloudWatch → SNS → Lambda → SES)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54648" y="1405012"/>
            <a:ext cx="2634630" cy="2432521"/>
          </a:xfrm>
          <a:prstGeom prst="roundRect">
            <a:avLst>
              <a:gd name="adj" fmla="val 765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78622" y="152898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Learnings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78622" y="1797248"/>
            <a:ext cx="2386682" cy="1277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Designing for scale requires early decisions on partitioning and state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Secrets and KMS policies must be explicit and audited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ASG tuning + ALB health checks reduce false positives in autoscaling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13252" y="1405012"/>
            <a:ext cx="2634555" cy="2432521"/>
          </a:xfrm>
          <a:prstGeom prst="roundRect">
            <a:avLst>
              <a:gd name="adj" fmla="val 765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37225" y="152898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Skills Demonstrated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37225" y="1797248"/>
            <a:ext cx="2386608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 architecture &amp; services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Terraform modularization &amp; automation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DevOps practices, monitoring, and security design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97706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Closing: ProcureFlow demonstrates how cloud-native architecture and Infrastructure as Code deliver secure, auditable, and scalable procurement operations — ready for enterprise roll-out and continuous improvement.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451</TotalTime>
  <Words>802</Words>
  <Application>Microsoft Office PowerPoint</Application>
  <PresentationFormat>On-screen Show (16:9)</PresentationFormat>
  <Paragraphs>116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Open Sans</vt:lpstr>
      <vt:lpstr>Calibri</vt:lpstr>
      <vt:lpstr>Arial</vt:lpstr>
      <vt:lpstr>Calibri Light</vt:lpstr>
      <vt:lpstr>Playfair Display Bold</vt:lpstr>
      <vt:lpstr>Playfair Display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Vinay Kumar Kondoju(UST,IN)</cp:lastModifiedBy>
  <cp:revision>4</cp:revision>
  <dcterms:created xsi:type="dcterms:W3CDTF">2026-06-10T01:50:18Z</dcterms:created>
  <dcterms:modified xsi:type="dcterms:W3CDTF">2026-06-10T12:08:24Z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2026-06-10T04:37:10Z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e184b286-9417-4b82-9edd-46fe55f792ca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